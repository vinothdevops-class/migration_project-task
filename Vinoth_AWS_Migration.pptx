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9" d="100"/>
          <a:sy n="89" d="100"/>
        </p:scale>
        <p:origin x="437" y="-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5130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FinNova • AWS Cloud Migration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01200" y="64922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by Vinoth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91695" cy="6309360"/>
          </a:xfrm>
          <a:prstGeom prst="rect">
            <a:avLst/>
          </a:prstGeom>
          <a:solidFill>
            <a:srgbClr val="12343B"/>
          </a:solidFill>
          <a:ln w="12700">
            <a:solidFill>
              <a:srgbClr val="1234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5836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Cloud Migration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E5E8"/>
                </a:solidFill>
              </a:rPr>
              <a:t>Infrastructure + Application + Data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682496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C3C9"/>
                </a:solidFill>
              </a:rPr>
              <a:t>AWS us-east-1  •  Prepared by Vinoth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2331720"/>
            <a:ext cx="5074920" cy="3246120"/>
          </a:xfrm>
          <a:prstGeom prst="roundRect">
            <a:avLst>
              <a:gd name="adj" fmla="val 2254"/>
            </a:avLst>
          </a:prstGeom>
          <a:solidFill>
            <a:srgbClr val="173F48"/>
          </a:solidFill>
          <a:ln w="12700">
            <a:solidFill>
              <a:srgbClr val="2A5B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What is moving?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32688" y="3118104"/>
            <a:ext cx="109728" cy="109728"/>
          </a:xfrm>
          <a:prstGeom prst="ellipse">
            <a:avLst/>
          </a:prstGeom>
          <a:solidFill>
            <a:srgbClr val="77C4CC"/>
          </a:solidFill>
          <a:ln w="12700">
            <a:solidFill>
              <a:srgbClr val="77C4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52144" y="3044952"/>
            <a:ext cx="4215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5F0F2"/>
                </a:solidFill>
              </a:rPr>
              <a:t>On-prem VMware workloads → Amazon EKS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32688" y="3502152"/>
            <a:ext cx="109728" cy="109728"/>
          </a:xfrm>
          <a:prstGeom prst="ellipse">
            <a:avLst/>
          </a:prstGeom>
          <a:solidFill>
            <a:srgbClr val="77C4CC"/>
          </a:solidFill>
          <a:ln w="12700">
            <a:solidFill>
              <a:srgbClr val="77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52144" y="3429000"/>
            <a:ext cx="4215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5F0F2"/>
                </a:solidFill>
              </a:rPr>
              <a:t>MySQL 5.7 → Aurora MySQL 8.0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32688" y="3886200"/>
            <a:ext cx="109728" cy="109728"/>
          </a:xfrm>
          <a:prstGeom prst="ellipse">
            <a:avLst/>
          </a:prstGeom>
          <a:solidFill>
            <a:srgbClr val="77C4CC"/>
          </a:solidFill>
          <a:ln w="12700">
            <a:solidFill>
              <a:srgbClr val="77C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3813048"/>
            <a:ext cx="4215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5F0F2"/>
                </a:solidFill>
              </a:rPr>
              <a:t>NFS → Amazon S3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32688" y="4270248"/>
            <a:ext cx="109728" cy="109728"/>
          </a:xfrm>
          <a:prstGeom prst="ellipse">
            <a:avLst/>
          </a:prstGeom>
          <a:solidFill>
            <a:srgbClr val="77C4CC"/>
          </a:solidFill>
          <a:ln w="12700">
            <a:solidFill>
              <a:srgbClr val="77C4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52144" y="4197096"/>
            <a:ext cx="4215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5F0F2"/>
                </a:solidFill>
              </a:rPr>
              <a:t>VM-based secrets → Secrets Manager + IRSA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32688" y="4654296"/>
            <a:ext cx="109728" cy="109728"/>
          </a:xfrm>
          <a:prstGeom prst="ellipse">
            <a:avLst/>
          </a:prstGeom>
          <a:solidFill>
            <a:srgbClr val="77C4CC"/>
          </a:solidFill>
          <a:ln w="12700">
            <a:solidFill>
              <a:srgbClr val="77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52144" y="4581144"/>
            <a:ext cx="4215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5F0F2"/>
                </a:solidFill>
              </a:rPr>
              <a:t>Nginx → HTTPS Application Load Balancer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35040" y="233172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2EAED"/>
            </a:solidFill>
            <a:prstDash val="solid"/>
          </a:ln>
          <a:effectLst>
            <a:outerShdw blurRad="2540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27648" y="2606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43B"/>
                </a:solidFill>
              </a:rPr>
              <a:t>What does the target give us?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27648" y="303580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5C"/>
                </a:solidFill>
              </a:rPr>
              <a:t>HA + scaling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28432" y="303580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7343B"/>
                </a:solidFill>
              </a:rPr>
              <a:t>EKS across AZs, HPA and PDB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27648" y="360273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5C"/>
                </a:solidFill>
              </a:rPr>
              <a:t>Secure by default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28432" y="360273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7343B"/>
                </a:solidFill>
              </a:rPr>
              <a:t>Private data tier, least privilege, KMS/TLS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27648" y="41696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5C"/>
                </a:solidFill>
              </a:rPr>
              <a:t>Controlled migration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28432" y="416966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7343B"/>
                </a:solidFill>
              </a:rPr>
              <a:t>DMS full load + CDC with rollback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27648" y="47365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5C"/>
                </a:solidFill>
              </a:rPr>
              <a:t>Lower run cost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28432" y="473659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7343B"/>
                </a:solidFill>
              </a:rPr>
              <a:t>~$4,316 → ~$3,351 after optimisation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85800" y="58795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E5E8"/>
                </a:solidFill>
              </a:rPr>
              <a:t>Core principle: move dependencies in a safe order, validate each layer, and keep rollback possible.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Target AWS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57E"/>
                </a:solidFill>
              </a:rPr>
              <a:t>Simple view: how traffic, workloads, data and AWS services fit together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blurRad="322580000" dist="161290000" algn="bl" rotWithShape="0">
              <a:srgbClr val="000000">
                <a:alpha val="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91640"/>
            <a:ext cx="1051560" cy="310896"/>
          </a:xfrm>
          <a:prstGeom prst="roundRect">
            <a:avLst>
              <a:gd name="adj" fmla="val 20588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465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Internet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38528" y="1847088"/>
            <a:ext cx="804672" cy="0"/>
          </a:xfrm>
          <a:prstGeom prst="line">
            <a:avLst/>
          </a:prstGeom>
          <a:noFill/>
          <a:ln w="2540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43200" y="1554480"/>
            <a:ext cx="1874520" cy="594360"/>
          </a:xfrm>
          <a:prstGeom prst="roundRect">
            <a:avLst>
              <a:gd name="adj" fmla="val 12308"/>
            </a:avLst>
          </a:prstGeom>
          <a:solidFill>
            <a:srgbClr val="EEF4FF"/>
          </a:solidFill>
          <a:ln w="12700">
            <a:solidFill>
              <a:srgbClr val="BBD0FF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89504" y="166420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6BFF"/>
                </a:solidFill>
              </a:rPr>
              <a:t>ALB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F6BFF"/>
                </a:solidFill>
              </a:rPr>
              <a:t>HTTPS 443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45152" y="1847088"/>
            <a:ext cx="868680" cy="0"/>
          </a:xfrm>
          <a:prstGeom prst="line">
            <a:avLst/>
          </a:prstGeom>
          <a:noFill/>
          <a:ln w="25400">
            <a:solidFill>
              <a:srgbClr val="0F4C5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0" y="1389888"/>
            <a:ext cx="2788920" cy="1828800"/>
          </a:xfrm>
          <a:prstGeom prst="roundRect">
            <a:avLst>
              <a:gd name="adj" fmla="val 4000"/>
            </a:avLst>
          </a:prstGeom>
          <a:solidFill>
            <a:srgbClr val="F4FAFB"/>
          </a:solidFill>
          <a:ln w="12700">
            <a:solidFill>
              <a:srgbClr val="BFD9D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733288" y="16093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43B"/>
                </a:solidFill>
              </a:rPr>
              <a:t>EKS private subnets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97880" y="2039112"/>
            <a:ext cx="196596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E2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208940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7343B"/>
                </a:solidFill>
              </a:rPr>
              <a:t>Web / Order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97880" y="2404872"/>
            <a:ext cx="196596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E2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245516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7343B"/>
                </a:solidFill>
              </a:rPr>
              <a:t>Inventory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97880" y="2770632"/>
            <a:ext cx="1965960" cy="274320"/>
          </a:xfrm>
          <a:prstGeom prst="roundRect">
            <a:avLst>
              <a:gd name="adj" fmla="val 16667"/>
            </a:avLst>
          </a:prstGeom>
          <a:solidFill>
            <a:srgbClr val="FDECEC"/>
          </a:solidFill>
          <a:ln w="12700">
            <a:solidFill>
              <a:srgbClr val="E9B6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282092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94C4C"/>
                </a:solidFill>
              </a:rPr>
              <a:t>Payment (isolated)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76288" y="3273552"/>
            <a:ext cx="0" cy="429768"/>
          </a:xfrm>
          <a:prstGeom prst="line">
            <a:avLst/>
          </a:prstGeom>
          <a:noFill/>
          <a:ln w="25400">
            <a:solidFill>
              <a:srgbClr val="0F4C5C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715000" y="3685032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F0F9F4"/>
          </a:solidFill>
          <a:ln w="12700">
            <a:solidFill>
              <a:srgbClr val="BBDCC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70448" y="378561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F855A"/>
                </a:solidFill>
              </a:rPr>
              <a:t>Aurora MySQL 8.0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F855A"/>
                </a:solidFill>
              </a:rPr>
              <a:t>private data subnet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641080" y="141732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FF8EA"/>
          </a:solidFill>
          <a:ln w="12700">
            <a:solidFill>
              <a:srgbClr val="F2D49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887968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93B"/>
                </a:solidFill>
              </a:rPr>
              <a:t>Private AWS access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897112" y="194767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27343B"/>
                </a:solidFill>
              </a:rPr>
              <a:t>VPC endpoints → Secrets, S3, ECR, KMS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8641080" y="2670048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4F7FF"/>
          </a:solidFill>
          <a:ln w="12700">
            <a:solidFill>
              <a:srgbClr val="C8D6FF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887968" y="2880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6BFF"/>
                </a:solidFill>
              </a:rPr>
              <a:t>Outbound internet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897112" y="32004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27343B"/>
                </a:solidFill>
              </a:rPr>
              <a:t>NAT Gateway → approved HTTPS only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914400" y="4709160"/>
            <a:ext cx="10012680" cy="822960"/>
          </a:xfrm>
          <a:prstGeom prst="roundRect">
            <a:avLst>
              <a:gd name="adj" fmla="val 8889"/>
            </a:avLst>
          </a:prstGeom>
          <a:solidFill>
            <a:srgbClr val="EAF3F5"/>
          </a:solidFill>
          <a:ln w="12700">
            <a:solidFill>
              <a:srgbClr val="C6DE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88720" y="495604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5C"/>
                </a:solidFill>
              </a:rPr>
              <a:t>Security model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606040" y="48646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7343B"/>
                </a:solidFill>
              </a:rPr>
              <a:t>Public: ALB + NAT  |  Private: EKS  |  Data: Aurora  |  Default-deny NetworkPolicy  |  TLS/mTLS  |  KMS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14400" y="569671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94C4C"/>
                </a:solidFill>
              </a:rPr>
              <a:t>Payment is separated by account/VPC and reached through PrivateLink only on the required port.</a:t>
            </a:r>
            <a:endParaRPr lang="en-US" sz="12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Application Containerisation &amp; Deployment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57E"/>
                </a:solidFill>
              </a:rPr>
              <a:t>The same application image is deployed consistently, securely and with high availability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19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43B"/>
                </a:solidFill>
              </a:rPr>
              <a:t>Build → Deploy → Run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167128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F7FAFB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24485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4C5C"/>
                </a:solidFill>
              </a:rPr>
              <a:t>Node.js 22 API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108960" y="224028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27343B"/>
                </a:solidFill>
              </a:rPr>
              <a:t>Orders + Idempotency-Key</a:t>
            </a:r>
            <a:endParaRPr lang="en-US" sz="1170" dirty="0"/>
          </a:p>
        </p:txBody>
      </p:sp>
      <p:sp>
        <p:nvSpPr>
          <p:cNvPr id="9" name="Shape 7"/>
          <p:cNvSpPr/>
          <p:nvPr/>
        </p:nvSpPr>
        <p:spPr>
          <a:xfrm>
            <a:off x="1901952" y="2551176"/>
            <a:ext cx="0" cy="155448"/>
          </a:xfrm>
          <a:prstGeom prst="line">
            <a:avLst/>
          </a:prstGeom>
          <a:noFill/>
          <a:ln w="19050">
            <a:solidFill>
              <a:srgbClr val="8AA7A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14400" y="2761488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F7FAFB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283921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4C5C"/>
                </a:solidFill>
              </a:rPr>
              <a:t>Multi-stage Docker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108960" y="283464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27343B"/>
                </a:solidFill>
              </a:rPr>
              <a:t>Small runtime image</a:t>
            </a:r>
            <a:endParaRPr lang="en-US" sz="1170" dirty="0"/>
          </a:p>
        </p:txBody>
      </p:sp>
      <p:sp>
        <p:nvSpPr>
          <p:cNvPr id="13" name="Shape 11"/>
          <p:cNvSpPr/>
          <p:nvPr/>
        </p:nvSpPr>
        <p:spPr>
          <a:xfrm>
            <a:off x="1901952" y="3145536"/>
            <a:ext cx="0" cy="155448"/>
          </a:xfrm>
          <a:prstGeom prst="line">
            <a:avLst/>
          </a:prstGeom>
          <a:noFill/>
          <a:ln w="19050">
            <a:solidFill>
              <a:srgbClr val="8AA7A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14400" y="3355848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EAF3F5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3272" y="34335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4C5C"/>
                </a:solidFill>
              </a:rPr>
              <a:t>EKS / 3 replicas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108960" y="342900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27343B"/>
                </a:solidFill>
              </a:rPr>
              <a:t>Spread across AZs</a:t>
            </a:r>
            <a:endParaRPr lang="en-US" sz="1170" dirty="0"/>
          </a:p>
        </p:txBody>
      </p:sp>
      <p:sp>
        <p:nvSpPr>
          <p:cNvPr id="17" name="Shape 15"/>
          <p:cNvSpPr/>
          <p:nvPr/>
        </p:nvSpPr>
        <p:spPr>
          <a:xfrm>
            <a:off x="1901952" y="3739896"/>
            <a:ext cx="0" cy="155448"/>
          </a:xfrm>
          <a:prstGeom prst="line">
            <a:avLst/>
          </a:prstGeom>
          <a:noFill/>
          <a:ln w="19050">
            <a:solidFill>
              <a:srgbClr val="8AA7A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4400" y="3950208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F7FAFB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402793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4C5C"/>
                </a:solidFill>
              </a:rPr>
              <a:t>ALB + ClusterIP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108960" y="402336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27343B"/>
                </a:solidFill>
              </a:rPr>
              <a:t>HTTPS 443 → 8080</a:t>
            </a:r>
            <a:endParaRPr lang="en-US" sz="1170" dirty="0"/>
          </a:p>
        </p:txBody>
      </p:sp>
      <p:sp>
        <p:nvSpPr>
          <p:cNvPr id="21" name="Shape 19"/>
          <p:cNvSpPr/>
          <p:nvPr/>
        </p:nvSpPr>
        <p:spPr>
          <a:xfrm>
            <a:off x="1901952" y="4334256"/>
            <a:ext cx="0" cy="155448"/>
          </a:xfrm>
          <a:prstGeom prst="line">
            <a:avLst/>
          </a:prstGeom>
          <a:noFill/>
          <a:ln w="19050">
            <a:solidFill>
              <a:srgbClr val="8AA7AE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4400" y="4544568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F7FAFB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3272" y="462229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4C5C"/>
                </a:solidFill>
              </a:rPr>
              <a:t>HPA 3–12 pods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108960" y="461772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27343B"/>
                </a:solidFill>
              </a:rPr>
              <a:t>CPU 65% / memory 75%</a:t>
            </a:r>
            <a:endParaRPr lang="en-US" sz="1170" dirty="0"/>
          </a:p>
        </p:txBody>
      </p:sp>
      <p:sp>
        <p:nvSpPr>
          <p:cNvPr id="25" name="Shape 23"/>
          <p:cNvSpPr/>
          <p:nvPr/>
        </p:nvSpPr>
        <p:spPr>
          <a:xfrm>
            <a:off x="6263640" y="1417320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EEF4FF"/>
          </a:solidFill>
          <a:ln w="12700">
            <a:solidFill>
              <a:srgbClr val="C9D6FF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37960" y="16733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BFF"/>
                </a:solidFill>
              </a:rPr>
              <a:t>Runtime hardening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37960" y="1993392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7343B"/>
                </a:solidFill>
              </a:rPr>
              <a:t>Non-root • read-only filesystem • dropped capabilities • seccomp RuntimeDefault • image pinned by digest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6263640" y="2898648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F0F9F4"/>
          </a:solidFill>
          <a:ln w="12700">
            <a:solidFill>
              <a:srgbClr val="C8E2CF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37960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855A"/>
                </a:solidFill>
              </a:rPr>
              <a:t>Resilience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37960" y="34747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7343B"/>
                </a:solidFill>
              </a:rPr>
              <a:t>startup/liveness/readiness probes • PDB min 2 • rolling update maxUnavailable 0</a:t>
            </a:r>
            <a:endParaRPr lang="en-US" sz="1180" dirty="0"/>
          </a:p>
        </p:txBody>
      </p:sp>
      <p:sp>
        <p:nvSpPr>
          <p:cNvPr id="31" name="Shape 29"/>
          <p:cNvSpPr/>
          <p:nvPr/>
        </p:nvSpPr>
        <p:spPr>
          <a:xfrm>
            <a:off x="6263640" y="4379976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FFF4F4"/>
          </a:solidFill>
          <a:ln w="12700">
            <a:solidFill>
              <a:srgbClr val="EDC4C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37960" y="463600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4C4C"/>
                </a:solidFill>
              </a:rPr>
              <a:t>Payment: Blue/Green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37960" y="4956048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27343B"/>
                </a:solidFill>
              </a:rPr>
              <a:t>Green is tested privately → manual approval → traffic moves → Blue stays warm for fast rollback.</a:t>
            </a:r>
            <a:endParaRPr lang="en-US" sz="118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Database Migration &amp; Cutover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57E"/>
                </a:solidFill>
              </a:rPr>
              <a:t>Move 800 GB safely with AWS DMS while the source remains live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8FAFB"/>
          </a:solidFill>
          <a:ln w="12700">
            <a:solidFill>
              <a:srgbClr val="DCE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956816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343B"/>
                </a:solidFill>
              </a:rPr>
              <a:t>On-prem MySQL 5.7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41832" y="2212848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66757E"/>
                </a:solidFill>
              </a:rPr>
              <a:t>Live source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2468880" y="2212848"/>
            <a:ext cx="502920" cy="0"/>
          </a:xfrm>
          <a:prstGeom prst="line">
            <a:avLst/>
          </a:prstGeom>
          <a:noFill/>
          <a:ln w="22860">
            <a:solidFill>
              <a:srgbClr val="91A7A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063240" y="182880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8FAFB"/>
          </a:solidFill>
          <a:ln w="12700">
            <a:solidFill>
              <a:srgbClr val="DCE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36392" y="1956816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343B"/>
                </a:solidFill>
              </a:rPr>
              <a:t>DMS Full Load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136392" y="2212848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66757E"/>
                </a:solidFill>
              </a:rPr>
              <a:t>Copy existing 800 GB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4663440" y="2212848"/>
            <a:ext cx="502920" cy="0"/>
          </a:xfrm>
          <a:prstGeom prst="line">
            <a:avLst/>
          </a:prstGeom>
          <a:noFill/>
          <a:ln w="22860">
            <a:solidFill>
              <a:srgbClr val="91A7A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57800" y="182880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DF4E4"/>
          </a:solidFill>
          <a:ln w="12700">
            <a:solidFill>
              <a:srgbClr val="F0D4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30952" y="1956816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A93B"/>
                </a:solidFill>
              </a:rPr>
              <a:t>CDC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330952" y="2212848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66757E"/>
                </a:solidFill>
              </a:rPr>
              <a:t>Stream ongoing changes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858000" y="2212848"/>
            <a:ext cx="502920" cy="0"/>
          </a:xfrm>
          <a:prstGeom prst="line">
            <a:avLst/>
          </a:prstGeom>
          <a:noFill/>
          <a:ln w="22860">
            <a:solidFill>
              <a:srgbClr val="91A7AE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52360" y="182880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8FAFB"/>
          </a:solidFill>
          <a:ln w="12700">
            <a:solidFill>
              <a:srgbClr val="DCE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25512" y="1956816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343B"/>
                </a:solidFill>
              </a:rPr>
              <a:t>Aurora MySQL 8.0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525512" y="2212848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66757E"/>
                </a:solidFill>
              </a:rPr>
              <a:t>Validated target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9052560" y="2212848"/>
            <a:ext cx="502920" cy="0"/>
          </a:xfrm>
          <a:prstGeom prst="line">
            <a:avLst/>
          </a:prstGeom>
          <a:noFill/>
          <a:ln w="22860">
            <a:solidFill>
              <a:srgbClr val="91A7AE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46920" y="182880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8FAFB"/>
          </a:solidFill>
          <a:ln w="12700">
            <a:solidFill>
              <a:srgbClr val="DCE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20072" y="1956816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343B"/>
                </a:solidFill>
              </a:rPr>
              <a:t>Application cutover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720072" y="2212848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66757E"/>
                </a:solidFill>
              </a:rPr>
              <a:t>Route 53 + ALB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94360" y="3611880"/>
            <a:ext cx="3474720" cy="2194560"/>
          </a:xfrm>
          <a:prstGeom prst="roundRect">
            <a:avLst>
              <a:gd name="adj" fmla="val 3333"/>
            </a:avLst>
          </a:prstGeom>
          <a:solidFill>
            <a:srgbClr val="F4FAFB"/>
          </a:solidFill>
          <a:ln w="12700">
            <a:solidFill>
              <a:srgbClr val="C9E0E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38862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4C5C"/>
                </a:solidFill>
              </a:rPr>
              <a:t>Before cutover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868680" y="4389120"/>
            <a:ext cx="109728" cy="10972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88136" y="4315968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43B"/>
                </a:solidFill>
              </a:rPr>
              <a:t>ROW binlog + FULL row image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68680" y="4773168"/>
            <a:ext cx="109728" cy="10972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88136" y="4700016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43B"/>
                </a:solidFill>
              </a:rPr>
              <a:t>Pre-create Aurora schema/indexes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68680" y="5157216"/>
            <a:ext cx="109728" cy="10972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88136" y="5084064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43B"/>
                </a:solidFill>
              </a:rPr>
              <a:t>Dedicated DMS user + Secrets Manager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68680" y="5541264"/>
            <a:ext cx="109728" cy="10972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88136" y="546811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43B"/>
                </a:solidFill>
              </a:rPr>
              <a:t>Private VPN / Direct Connect path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343400" y="3611880"/>
            <a:ext cx="3474720" cy="2194560"/>
          </a:xfrm>
          <a:prstGeom prst="roundRect">
            <a:avLst>
              <a:gd name="adj" fmla="val 3333"/>
            </a:avLst>
          </a:prstGeom>
          <a:solidFill>
            <a:srgbClr val="FFF8EA"/>
          </a:solidFill>
          <a:ln w="12700">
            <a:solidFill>
              <a:srgbClr val="F0D59F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617720" y="3886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A93B"/>
                </a:solidFill>
              </a:rPr>
              <a:t>Cutover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4617720" y="4389120"/>
            <a:ext cx="109728" cy="10972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37176" y="4315968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43B"/>
                </a:solidFill>
              </a:rPr>
              <a:t>Freeze writes + make source read-only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617720" y="4773168"/>
            <a:ext cx="109728" cy="10972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37176" y="4700016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43B"/>
                </a:solidFill>
              </a:rPr>
              <a:t>Wait for CDC marker on Aurora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617720" y="5157216"/>
            <a:ext cx="109728" cy="10972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37176" y="5084064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43B"/>
                </a:solidFill>
              </a:rPr>
              <a:t>Quick row-count / sample checks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617720" y="5541264"/>
            <a:ext cx="109728" cy="10972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37176" y="546811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43B"/>
                </a:solidFill>
              </a:rPr>
              <a:t>Shift traffic, run synthetic order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092440" y="361188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0F9F4"/>
          </a:solidFill>
          <a:ln w="12700">
            <a:solidFill>
              <a:srgbClr val="C8E2CF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366760" y="3886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855A"/>
                </a:solidFill>
              </a:rPr>
              <a:t>Rollback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8366760" y="4389120"/>
            <a:ext cx="109728" cy="109728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86216" y="4315968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43B"/>
                </a:solidFill>
              </a:rPr>
              <a:t>Reverse CDC keeps on-prem current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366760" y="4773168"/>
            <a:ext cx="109728" cy="109728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86216" y="470001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43B"/>
                </a:solidFill>
              </a:rPr>
              <a:t>Fence Aurora if data issue appears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8366760" y="5157216"/>
            <a:ext cx="109728" cy="109728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86216" y="5084064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43B"/>
                </a:solidFill>
              </a:rPr>
              <a:t>Wait for reverse marker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8366760" y="5541264"/>
            <a:ext cx="109728" cy="109728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86216" y="546811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43B"/>
                </a:solidFill>
              </a:rPr>
              <a:t>Switch traffic back safely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822960" y="5989320"/>
            <a:ext cx="1056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12343B"/>
                </a:solidFill>
              </a:rPr>
              <a:t>Key control: never open writes on the new platform until the CDC marker confirms the target is fully caught up.</a:t>
            </a:r>
            <a:endParaRPr lang="en-US" sz="127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Operating Model: CI/CD, Security &amp; Cost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57E"/>
                </a:solidFill>
              </a:rPr>
              <a:t>How changes reach production and how the platform stays controlled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43B"/>
                </a:solidFill>
              </a:rPr>
              <a:t>CI/CD flow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86968" y="2231136"/>
            <a:ext cx="164592" cy="16459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217627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27343B"/>
                </a:solidFill>
              </a:rPr>
              <a:t>PR / Push</a:t>
            </a:r>
            <a:endParaRPr lang="en-US" sz="1170" dirty="0"/>
          </a:p>
        </p:txBody>
      </p:sp>
      <p:sp>
        <p:nvSpPr>
          <p:cNvPr id="8" name="Shape 6"/>
          <p:cNvSpPr/>
          <p:nvPr/>
        </p:nvSpPr>
        <p:spPr>
          <a:xfrm>
            <a:off x="960120" y="2386584"/>
            <a:ext cx="0" cy="228600"/>
          </a:xfrm>
          <a:prstGeom prst="line">
            <a:avLst/>
          </a:prstGeom>
          <a:noFill/>
          <a:ln w="16510">
            <a:solidFill>
              <a:srgbClr val="B6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" y="2688336"/>
            <a:ext cx="164592" cy="16459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263347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27343B"/>
                </a:solidFill>
              </a:rPr>
              <a:t>Test + Kustomize validation</a:t>
            </a:r>
            <a:endParaRPr lang="en-US" sz="1170" dirty="0"/>
          </a:p>
        </p:txBody>
      </p:sp>
      <p:sp>
        <p:nvSpPr>
          <p:cNvPr id="11" name="Shape 9"/>
          <p:cNvSpPr/>
          <p:nvPr/>
        </p:nvSpPr>
        <p:spPr>
          <a:xfrm>
            <a:off x="960120" y="2843784"/>
            <a:ext cx="0" cy="228600"/>
          </a:xfrm>
          <a:prstGeom prst="line">
            <a:avLst/>
          </a:prstGeom>
          <a:noFill/>
          <a:ln w="16510">
            <a:solidFill>
              <a:srgbClr val="B6C7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6968" y="3145536"/>
            <a:ext cx="164592" cy="16459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7008" y="309067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27343B"/>
                </a:solidFill>
              </a:rPr>
              <a:t>Docker build once</a:t>
            </a:r>
            <a:endParaRPr lang="en-US" sz="1170" dirty="0"/>
          </a:p>
        </p:txBody>
      </p:sp>
      <p:sp>
        <p:nvSpPr>
          <p:cNvPr id="14" name="Shape 12"/>
          <p:cNvSpPr/>
          <p:nvPr/>
        </p:nvSpPr>
        <p:spPr>
          <a:xfrm>
            <a:off x="960120" y="3300984"/>
            <a:ext cx="0" cy="228600"/>
          </a:xfrm>
          <a:prstGeom prst="line">
            <a:avLst/>
          </a:prstGeom>
          <a:noFill/>
          <a:ln w="16510">
            <a:solidFill>
              <a:srgbClr val="B6C7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6968" y="3602736"/>
            <a:ext cx="164592" cy="16459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354787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27343B"/>
                </a:solidFill>
              </a:rPr>
              <a:t>Trivy security scan</a:t>
            </a:r>
            <a:endParaRPr lang="en-US" sz="1170" dirty="0"/>
          </a:p>
        </p:txBody>
      </p:sp>
      <p:sp>
        <p:nvSpPr>
          <p:cNvPr id="17" name="Shape 15"/>
          <p:cNvSpPr/>
          <p:nvPr/>
        </p:nvSpPr>
        <p:spPr>
          <a:xfrm>
            <a:off x="960120" y="3758184"/>
            <a:ext cx="0" cy="228600"/>
          </a:xfrm>
          <a:prstGeom prst="line">
            <a:avLst/>
          </a:prstGeom>
          <a:noFill/>
          <a:ln w="16510">
            <a:solidFill>
              <a:srgbClr val="B6C7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6968" y="4059936"/>
            <a:ext cx="164592" cy="16459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07008" y="400507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27343B"/>
                </a:solidFill>
              </a:rPr>
              <a:t>Push to ECR by OIDC</a:t>
            </a:r>
            <a:endParaRPr lang="en-US" sz="1170" dirty="0"/>
          </a:p>
        </p:txBody>
      </p:sp>
      <p:sp>
        <p:nvSpPr>
          <p:cNvPr id="20" name="Shape 18"/>
          <p:cNvSpPr/>
          <p:nvPr/>
        </p:nvSpPr>
        <p:spPr>
          <a:xfrm>
            <a:off x="960120" y="4215384"/>
            <a:ext cx="0" cy="228600"/>
          </a:xfrm>
          <a:prstGeom prst="line">
            <a:avLst/>
          </a:prstGeom>
          <a:noFill/>
          <a:ln w="16510">
            <a:solidFill>
              <a:srgbClr val="B6C7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" y="4517136"/>
            <a:ext cx="164592" cy="16459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07008" y="446227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27343B"/>
                </a:solidFill>
              </a:rPr>
              <a:t>Dev → Staging → Prod approval</a:t>
            </a:r>
            <a:endParaRPr lang="en-US" sz="1170" dirty="0"/>
          </a:p>
        </p:txBody>
      </p:sp>
      <p:sp>
        <p:nvSpPr>
          <p:cNvPr id="23" name="Shape 21"/>
          <p:cNvSpPr/>
          <p:nvPr/>
        </p:nvSpPr>
        <p:spPr>
          <a:xfrm>
            <a:off x="960120" y="4672584"/>
            <a:ext cx="0" cy="228600"/>
          </a:xfrm>
          <a:prstGeom prst="line">
            <a:avLst/>
          </a:prstGeom>
          <a:noFill/>
          <a:ln w="16510">
            <a:solidFill>
              <a:srgbClr val="B6C7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968" y="4974336"/>
            <a:ext cx="164592" cy="16459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07008" y="491947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27343B"/>
                </a:solidFill>
              </a:rPr>
              <a:t>Rollback on failed rollout/smoke test</a:t>
            </a:r>
            <a:endParaRPr lang="en-US" sz="1170" dirty="0"/>
          </a:p>
        </p:txBody>
      </p:sp>
      <p:sp>
        <p:nvSpPr>
          <p:cNvPr id="26" name="Shape 24"/>
          <p:cNvSpPr/>
          <p:nvPr/>
        </p:nvSpPr>
        <p:spPr>
          <a:xfrm>
            <a:off x="4434840" y="141732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4FAFB"/>
          </a:solidFill>
          <a:ln w="12700">
            <a:solidFill>
              <a:srgbClr val="C9E0E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09160" y="1719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4C5C"/>
                </a:solidFill>
              </a:rPr>
              <a:t>Security guardrails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709160" y="2240280"/>
            <a:ext cx="109728" cy="10972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28616" y="216712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7343B"/>
                </a:solidFill>
              </a:rPr>
              <a:t>Default-deny SG + NetworkPolicy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09160" y="2624328"/>
            <a:ext cx="109728" cy="10972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28616" y="2551176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7343B"/>
                </a:solidFill>
              </a:rPr>
              <a:t>Secrets Manager + IRSA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09160" y="3008376"/>
            <a:ext cx="109728" cy="10972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28616" y="293522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7343B"/>
                </a:solidFill>
              </a:rPr>
              <a:t>KMS encryption at rest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09160" y="3392424"/>
            <a:ext cx="109728" cy="10972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28616" y="331927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7343B"/>
                </a:solidFill>
              </a:rPr>
              <a:t>TLS 1.2+ DB / TLS 1.3 ALB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09160" y="3776472"/>
            <a:ext cx="109728" cy="10972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28616" y="370332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7343B"/>
                </a:solidFill>
              </a:rPr>
              <a:t>Payment isolated by account/VPC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09160" y="4160520"/>
            <a:ext cx="109728" cy="10972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28616" y="408736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7343B"/>
                </a:solidFill>
              </a:rPr>
              <a:t>No long-lived AWS keys in pods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092440" y="141732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FF8EA"/>
          </a:solidFill>
          <a:ln w="12700">
            <a:solidFill>
              <a:srgbClr val="F0D59F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366760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93B"/>
                </a:solidFill>
              </a:rPr>
              <a:t>Cost signal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366760" y="217627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43B"/>
                </a:solidFill>
              </a:rPr>
              <a:t>AWS on-demand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2343B"/>
                </a:solidFill>
              </a:rPr>
              <a:t>$4,316 / month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10012680" y="2139696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855A"/>
                </a:solidFill>
              </a:rPr>
              <a:t>After first four optimisations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F855A"/>
                </a:solidFill>
              </a:rPr>
              <a:t>≈ $3,351 / month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092440" y="370332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0F9F4"/>
          </a:solidFill>
          <a:ln w="12700">
            <a:solidFill>
              <a:srgbClr val="C8E2CF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366760" y="3977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855A"/>
                </a:solidFill>
              </a:rPr>
              <a:t>What success looks like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8366760" y="4489704"/>
            <a:ext cx="109728" cy="109728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86216" y="441655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7343B"/>
                </a:solidFill>
              </a:rPr>
              <a:t>Same image tested in staging reaches prod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366760" y="4873752"/>
            <a:ext cx="109728" cy="109728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86216" y="480060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7343B"/>
                </a:solidFill>
              </a:rPr>
              <a:t>Fast rollback when a release fails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366760" y="5257800"/>
            <a:ext cx="109728" cy="109728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86216" y="518464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7343B"/>
                </a:solidFill>
              </a:rPr>
              <a:t>Data migration is reversible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366760" y="5641848"/>
            <a:ext cx="109728" cy="109728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86216" y="5568696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7343B"/>
                </a:solidFill>
              </a:rPr>
              <a:t>Capacity grows for sales events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77240" y="60533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12343B"/>
                </a:solidFill>
              </a:rPr>
              <a:t>.</a:t>
            </a:r>
            <a:endParaRPr lang="en-US" sz="133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615</Words>
  <Application>Microsoft Office PowerPoint</Application>
  <PresentationFormat>Widescreen</PresentationFormat>
  <Paragraphs>122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Vinoth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Cloud Migration – 5 Key Slides</dc:title>
  <dc:subject>End-to-End Cloud Migration</dc:subject>
  <dc:creator>Vinoth</dc:creator>
  <cp:lastModifiedBy>vinoth S</cp:lastModifiedBy>
  <cp:revision>2</cp:revision>
  <dcterms:created xsi:type="dcterms:W3CDTF">2026-10-07T14:00:45Z</dcterms:created>
  <dcterms:modified xsi:type="dcterms:W3CDTF">2026-10-07T14:05:36Z</dcterms:modified>
</cp:coreProperties>
</file>